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9" r:id="rId5"/>
    <p:sldId id="266" r:id="rId6"/>
    <p:sldId id="258" r:id="rId7"/>
    <p:sldId id="261" r:id="rId8"/>
    <p:sldId id="262" r:id="rId9"/>
    <p:sldId id="264" r:id="rId10"/>
    <p:sldId id="265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950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35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28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49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39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27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882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42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42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14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24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506DD16-935B-4432-BF72-AEFCDAEDDA1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C401096-2D85-49B8-8617-C12E64E728D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61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E261-8E5E-075D-66A3-6E4DF1C58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Aptos Display" panose="020B0004020202020204" pitchFamily="34" charset="0"/>
              </a:rPr>
              <a:t>Discourse particle in Hindi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D7EA6-A93A-5FCF-B87D-C2BE5F4E86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LING 414  Statistical Methods in linguistics </a:t>
            </a:r>
          </a:p>
          <a:p>
            <a:r>
              <a:rPr lang="en-US" dirty="0">
                <a:latin typeface="Aptos Display" panose="020B0004020202020204" pitchFamily="34" charset="0"/>
              </a:rPr>
              <a:t>Meghna Hooda </a:t>
            </a:r>
            <a:endParaRPr lang="en-I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81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576FE-5EBE-F50A-CC33-7FC0EEBED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1D9F1-F508-E397-1E6C-4248BBD6F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45743"/>
            <a:ext cx="11029615" cy="3678303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Discourse Particles convey information that is not always available in a proposition. It may provide information about the speaker's assumptions and reasoning on how the current discourse fits into the evolving common ground [5].</a:t>
            </a:r>
          </a:p>
          <a:p>
            <a:r>
              <a:rPr lang="en-US" dirty="0">
                <a:latin typeface="Aptos" panose="020B0004020202020204" pitchFamily="34" charset="0"/>
              </a:rPr>
              <a:t>My research focuses on analyzing patterns of a discourse particle in Hindi speech. </a:t>
            </a:r>
          </a:p>
          <a:p>
            <a:r>
              <a:rPr lang="en-US" dirty="0">
                <a:latin typeface="Aptos" panose="020B0004020202020204" pitchFamily="34" charset="0"/>
              </a:rPr>
              <a:t>Research in pragmatics and discourse markers [2,4] consistently shows: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Discourse particles may mark speaker stance, pragmatic functions, and discourse structuring.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They tend to appear in contexts with higher discourse complexity.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Longer sentences consist of more complexities.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Moreover, in German[3], Hindi[1], Japanese, particles frequently occur at clause boundaries (which longer sentences contain more of).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0D27B-BD39-698F-7447-DFA7C30AC0FE}"/>
              </a:ext>
            </a:extLst>
          </p:cNvPr>
          <p:cNvSpPr txBox="1"/>
          <p:nvPr/>
        </p:nvSpPr>
        <p:spPr>
          <a:xfrm>
            <a:off x="581190" y="5724046"/>
            <a:ext cx="1102961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[1] Deo, A. (2022). Could be stronger: Raising and resolving questions with Hindi= to. </a:t>
            </a:r>
            <a:r>
              <a:rPr lang="en-US" sz="1050" i="1" dirty="0">
                <a:latin typeface="Aptos" panose="020B0004020202020204" pitchFamily="34" charset="0"/>
              </a:rPr>
              <a:t>Language</a:t>
            </a:r>
            <a:r>
              <a:rPr lang="en-US" sz="1050" dirty="0">
                <a:latin typeface="Aptos" panose="020B0004020202020204" pitchFamily="34" charset="0"/>
              </a:rPr>
              <a:t>, </a:t>
            </a:r>
            <a:r>
              <a:rPr lang="en-US" sz="1050" i="1" dirty="0">
                <a:latin typeface="Aptos" panose="020B0004020202020204" pitchFamily="34" charset="0"/>
              </a:rPr>
              <a:t>98</a:t>
            </a:r>
            <a:r>
              <a:rPr lang="en-US" sz="1050" dirty="0">
                <a:latin typeface="Aptos" panose="020B0004020202020204" pitchFamily="34" charset="0"/>
              </a:rPr>
              <a:t>(4), 716-748.</a:t>
            </a:r>
          </a:p>
          <a:p>
            <a:r>
              <a:rPr lang="en-US" sz="1050" dirty="0">
                <a:latin typeface="Aptos" panose="020B0004020202020204" pitchFamily="34" charset="0"/>
              </a:rPr>
              <a:t>[2] Fraser, B. (1999). What are discourse markers?. </a:t>
            </a:r>
            <a:r>
              <a:rPr lang="en-US" sz="1050" i="1" dirty="0">
                <a:latin typeface="Aptos" panose="020B0004020202020204" pitchFamily="34" charset="0"/>
              </a:rPr>
              <a:t>Journal of pragmatics</a:t>
            </a:r>
            <a:r>
              <a:rPr lang="en-US" sz="1050" dirty="0">
                <a:latin typeface="Aptos" panose="020B0004020202020204" pitchFamily="34" charset="0"/>
              </a:rPr>
              <a:t>, </a:t>
            </a:r>
            <a:r>
              <a:rPr lang="en-US" sz="1050" i="1" dirty="0">
                <a:latin typeface="Aptos" panose="020B0004020202020204" pitchFamily="34" charset="0"/>
              </a:rPr>
              <a:t>31</a:t>
            </a:r>
            <a:r>
              <a:rPr lang="en-US" sz="1050" dirty="0">
                <a:latin typeface="Aptos" panose="020B0004020202020204" pitchFamily="34" charset="0"/>
              </a:rPr>
              <a:t>(7), 931-952.</a:t>
            </a:r>
          </a:p>
          <a:p>
            <a:r>
              <a:rPr lang="en-US" sz="1050" dirty="0">
                <a:latin typeface="Aptos" panose="020B0004020202020204" pitchFamily="34" charset="0"/>
              </a:rPr>
              <a:t>[3] </a:t>
            </a:r>
            <a:r>
              <a:rPr lang="en-US" sz="1050" dirty="0" err="1">
                <a:latin typeface="Aptos" panose="020B0004020202020204" pitchFamily="34" charset="0"/>
              </a:rPr>
              <a:t>Groz</a:t>
            </a:r>
            <a:r>
              <a:rPr lang="en-US" sz="1050" dirty="0">
                <a:latin typeface="Aptos" panose="020B0004020202020204" pitchFamily="34" charset="0"/>
              </a:rPr>
              <a:t>, (2020) Discourse </a:t>
            </a:r>
            <a:r>
              <a:rPr lang="en-US" sz="1050" dirty="0" err="1">
                <a:latin typeface="Aptos" panose="020B0004020202020204" pitchFamily="34" charset="0"/>
              </a:rPr>
              <a:t>Particle,The</a:t>
            </a:r>
            <a:r>
              <a:rPr lang="en-US" sz="1050" dirty="0">
                <a:latin typeface="Aptos" panose="020B0004020202020204" pitchFamily="34" charset="0"/>
              </a:rPr>
              <a:t> Companion to Semantics, ed. by Lisa Matthewson, Cécile Meier, Hotze </a:t>
            </a:r>
            <a:r>
              <a:rPr lang="en-US" sz="1050" dirty="0" err="1">
                <a:latin typeface="Aptos" panose="020B0004020202020204" pitchFamily="34" charset="0"/>
              </a:rPr>
              <a:t>Rullmann</a:t>
            </a:r>
            <a:r>
              <a:rPr lang="en-US" sz="1050" dirty="0">
                <a:latin typeface="Aptos" panose="020B0004020202020204" pitchFamily="34" charset="0"/>
              </a:rPr>
              <a:t>, and Thomas Ede Zimmermann. To be published by Wiley.</a:t>
            </a:r>
          </a:p>
          <a:p>
            <a:r>
              <a:rPr lang="en-US" sz="1050" dirty="0">
                <a:latin typeface="Aptos" panose="020B0004020202020204" pitchFamily="34" charset="0"/>
              </a:rPr>
              <a:t>[4] Schiffrin, D. (1987). </a:t>
            </a:r>
            <a:r>
              <a:rPr lang="en-US" sz="1050" i="1" dirty="0">
                <a:latin typeface="Aptos" panose="020B0004020202020204" pitchFamily="34" charset="0"/>
              </a:rPr>
              <a:t>Discourse markers</a:t>
            </a:r>
            <a:r>
              <a:rPr lang="en-US" sz="1050" dirty="0">
                <a:latin typeface="Aptos" panose="020B0004020202020204" pitchFamily="34" charset="0"/>
              </a:rPr>
              <a:t> (No. 5). Cambridge University Press.</a:t>
            </a:r>
            <a:endParaRPr lang="de-DE" sz="1050" dirty="0">
              <a:latin typeface="Aptos" panose="020B0004020202020204" pitchFamily="34" charset="0"/>
            </a:endParaRPr>
          </a:p>
          <a:p>
            <a:r>
              <a:rPr lang="de-DE" sz="1050" dirty="0">
                <a:latin typeface="Aptos" panose="020B0004020202020204" pitchFamily="34" charset="0"/>
              </a:rPr>
              <a:t>[5] Zimmerman, M. 2011. “Discourse Particles” in In P. Portner, C. Maienborn und K. von Heusinger (eds.), Semantics. (= Handbücher zur Sprach- und Kommunikationswissenschaft HSK 33.2). Berlin, Mouton de Gruyter. 2011-2038. </a:t>
            </a:r>
          </a:p>
        </p:txBody>
      </p:sp>
    </p:spTree>
    <p:extLst>
      <p:ext uri="{BB962C8B-B14F-4D97-AF65-F5344CB8AC3E}">
        <p14:creationId xmlns:p14="http://schemas.microsoft.com/office/powerpoint/2010/main" val="899449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F46BE-80BF-5B20-2ECE-8BFA3319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0D84A-6B98-9750-40AC-17DCFBE6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Corpus analysis of a discourse particle </a:t>
            </a:r>
            <a:r>
              <a:rPr lang="en-US" i="1" dirty="0" err="1">
                <a:latin typeface="Aptos" panose="020B0004020202020204" pitchFamily="34" charset="0"/>
              </a:rPr>
              <a:t>na</a:t>
            </a:r>
            <a:r>
              <a:rPr lang="en-US" i="1" dirty="0">
                <a:latin typeface="Aptos" panose="020B0004020202020204" pitchFamily="34" charset="0"/>
              </a:rPr>
              <a:t> </a:t>
            </a:r>
            <a:r>
              <a:rPr lang="en-US" dirty="0">
                <a:latin typeface="Aptos" panose="020B0004020202020204" pitchFamily="34" charset="0"/>
              </a:rPr>
              <a:t>in Hindi.</a:t>
            </a:r>
          </a:p>
          <a:p>
            <a:r>
              <a:rPr lang="en-US" dirty="0">
                <a:latin typeface="Aptos" panose="020B0004020202020204" pitchFamily="34" charset="0"/>
              </a:rPr>
              <a:t>Effect of sentence length and position on the occurrence of </a:t>
            </a:r>
            <a:r>
              <a:rPr lang="en-US" dirty="0" err="1">
                <a:latin typeface="Aptos" panose="020B0004020202020204" pitchFamily="34" charset="0"/>
              </a:rPr>
              <a:t>na</a:t>
            </a:r>
            <a:endParaRPr lang="en-IN" i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81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C162D-CA05-9345-0DD5-CB454AA5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9830D-B632-62DC-C635-5BDD17CF7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IIT Delhi Dialogue Corpus [4] a corpus of naturalistic Hindi speech.</a:t>
            </a:r>
          </a:p>
          <a:p>
            <a:r>
              <a:rPr lang="en-US" dirty="0">
                <a:latin typeface="Aptos" panose="020B0004020202020204" pitchFamily="34" charset="0"/>
              </a:rPr>
              <a:t>The database comprises two sets; one is telephonic conversational data obtained from the CALLFRIEND Hindi project of the Linguistic Data Consortium (LDC) [5], and the other is face-to-face (collaborative task-oriented) conversations. </a:t>
            </a:r>
          </a:p>
          <a:p>
            <a:r>
              <a:rPr lang="en-US" dirty="0">
                <a:latin typeface="Aptos" panose="020B0004020202020204" pitchFamily="34" charset="0"/>
              </a:rPr>
              <a:t>Telephonic conversation data for the current paper.</a:t>
            </a:r>
          </a:p>
          <a:p>
            <a:r>
              <a:rPr lang="en-US" dirty="0">
                <a:latin typeface="Aptos" panose="020B0004020202020204" pitchFamily="34" charset="0"/>
              </a:rPr>
              <a:t>The telephonic conversation data is manually transcribed and manually checked for annotations, whereas face-to-face data does not undergo manual checks. For this research I will take only telephonic conversation data which consists of 39,224 sentences.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5039E-A88C-EF82-7D9E-E5A28234C278}"/>
              </a:ext>
            </a:extLst>
          </p:cNvPr>
          <p:cNvSpPr txBox="1"/>
          <p:nvPr/>
        </p:nvSpPr>
        <p:spPr>
          <a:xfrm>
            <a:off x="581192" y="6023257"/>
            <a:ext cx="1102961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Aptos" panose="020B0004020202020204" pitchFamily="34" charset="0"/>
              </a:rPr>
              <a:t>[4] Canavan, A., &amp; </a:t>
            </a:r>
            <a:r>
              <a:rPr lang="en-IN" sz="1100" dirty="0" err="1">
                <a:latin typeface="Aptos" panose="020B0004020202020204" pitchFamily="34" charset="0"/>
              </a:rPr>
              <a:t>Zipperlen</a:t>
            </a:r>
            <a:r>
              <a:rPr lang="en-IN" sz="1100" dirty="0">
                <a:latin typeface="Aptos" panose="020B0004020202020204" pitchFamily="34" charset="0"/>
              </a:rPr>
              <a:t>, G. (1996). </a:t>
            </a:r>
            <a:r>
              <a:rPr lang="en-IN" sz="1100" dirty="0" err="1">
                <a:latin typeface="Aptos" panose="020B0004020202020204" pitchFamily="34" charset="0"/>
              </a:rPr>
              <a:t>Callfriend</a:t>
            </a:r>
            <a:r>
              <a:rPr lang="en-IN" sz="1100" dirty="0">
                <a:latin typeface="Aptos" panose="020B0004020202020204" pitchFamily="34" charset="0"/>
              </a:rPr>
              <a:t> </a:t>
            </a:r>
            <a:r>
              <a:rPr lang="en-IN" sz="1100" dirty="0" err="1">
                <a:latin typeface="Aptos" panose="020B0004020202020204" pitchFamily="34" charset="0"/>
              </a:rPr>
              <a:t>hindi</a:t>
            </a:r>
            <a:r>
              <a:rPr lang="en-IN" sz="1100" dirty="0">
                <a:latin typeface="Aptos" panose="020B0004020202020204" pitchFamily="34" charset="0"/>
              </a:rPr>
              <a:t> ldc96s52. Web </a:t>
            </a:r>
            <a:r>
              <a:rPr lang="en-IN" sz="1100" dirty="0" err="1">
                <a:latin typeface="Aptos" panose="020B0004020202020204" pitchFamily="34" charset="0"/>
              </a:rPr>
              <a:t>Download.Philadelphia</a:t>
            </a:r>
            <a:r>
              <a:rPr lang="en-IN" sz="1100" dirty="0">
                <a:latin typeface="Aptos" panose="020B0004020202020204" pitchFamily="34" charset="0"/>
              </a:rPr>
              <a:t>: Linguistic Data Consortium.</a:t>
            </a:r>
          </a:p>
          <a:p>
            <a:r>
              <a:rPr lang="en-IN" sz="1100" dirty="0">
                <a:latin typeface="Aptos" panose="020B0004020202020204" pitchFamily="34" charset="0"/>
              </a:rPr>
              <a:t>[5] Pareek, B., Zafar, M., Hooda, M., Yadav, K., Vaidya, A., &amp; Husain, S. (2025). IIT Delhi Dialogue Corpus: A Quantitative Analysis of a Spoken Corpus of Hindi. Language Resources and Evaluation. </a:t>
            </a:r>
            <a:r>
              <a:rPr lang="en-IN" sz="1100" dirty="0" err="1">
                <a:latin typeface="Aptos" panose="020B0004020202020204" pitchFamily="34" charset="0"/>
              </a:rPr>
              <a:t>doi</a:t>
            </a:r>
            <a:r>
              <a:rPr lang="en-IN" sz="1100" dirty="0">
                <a:latin typeface="Aptos" panose="020B0004020202020204" pitchFamily="34" charset="0"/>
              </a:rPr>
              <a:t>: 10.1007/s10579-025-09867-8</a:t>
            </a:r>
          </a:p>
        </p:txBody>
      </p:sp>
    </p:spTree>
    <p:extLst>
      <p:ext uri="{BB962C8B-B14F-4D97-AF65-F5344CB8AC3E}">
        <p14:creationId xmlns:p14="http://schemas.microsoft.com/office/powerpoint/2010/main" val="281295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41D1-2F74-11F2-A19F-4A09DD6F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i-IN" dirty="0"/>
              <a:t>Data </a:t>
            </a:r>
            <a:endParaRPr lang="en-IN" dirty="0"/>
          </a:p>
        </p:txBody>
      </p:sp>
      <p:pic>
        <p:nvPicPr>
          <p:cNvPr id="7" name="Picture 6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5C67C479-E2B7-8189-993F-5630EBE758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32"/>
          <a:stretch>
            <a:fillRect/>
          </a:stretch>
        </p:blipFill>
        <p:spPr>
          <a:xfrm>
            <a:off x="581192" y="2227690"/>
            <a:ext cx="6951400" cy="2260548"/>
          </a:xfrm>
          <a:prstGeom prst="rect">
            <a:avLst/>
          </a:prstGeom>
        </p:spPr>
      </p:pic>
      <p:pic>
        <p:nvPicPr>
          <p:cNvPr id="12" name="Picture 11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97F306B-F2D8-F895-0651-8B936D37D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65"/>
          <a:stretch>
            <a:fillRect/>
          </a:stretch>
        </p:blipFill>
        <p:spPr>
          <a:xfrm>
            <a:off x="160870" y="5098447"/>
            <a:ext cx="9601200" cy="1040130"/>
          </a:xfrm>
          <a:prstGeom prst="rect">
            <a:avLst/>
          </a:prstGeom>
        </p:spPr>
      </p:pic>
      <p:pic>
        <p:nvPicPr>
          <p:cNvPr id="14" name="Picture 1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0C16C04-58B0-1B55-05E3-3F0527A9B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7" t="50000" r="76458"/>
          <a:stretch>
            <a:fillRect/>
          </a:stretch>
        </p:blipFill>
        <p:spPr>
          <a:xfrm>
            <a:off x="9762070" y="5098447"/>
            <a:ext cx="2142067" cy="10393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1ABC26-D4F9-0D92-5019-412C5599D7F6}"/>
              </a:ext>
            </a:extLst>
          </p:cNvPr>
          <p:cNvSpPr txBox="1"/>
          <p:nvPr/>
        </p:nvSpPr>
        <p:spPr>
          <a:xfrm>
            <a:off x="160870" y="4729115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head(</a:t>
            </a:r>
            <a:r>
              <a:rPr lang="en-IN" dirty="0" err="1"/>
              <a:t>na_data</a:t>
            </a:r>
            <a:r>
              <a:rPr lang="en-IN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DDACA7-9945-E838-B2EB-6CA93F95E42E}"/>
              </a:ext>
            </a:extLst>
          </p:cNvPr>
          <p:cNvSpPr txBox="1"/>
          <p:nvPr/>
        </p:nvSpPr>
        <p:spPr>
          <a:xfrm>
            <a:off x="491070" y="1866689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.</a:t>
            </a:r>
            <a:r>
              <a:rPr lang="en-IN" dirty="0" err="1"/>
              <a:t>conllu</a:t>
            </a:r>
            <a:r>
              <a:rPr lang="en-IN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40981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9D5B-30E6-DD5D-139A-1F80D6D1D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B078-AAE2-CF79-17B2-2436A7343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635306" cy="367830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Aptos" panose="020B0004020202020204" pitchFamily="34" charset="0"/>
              </a:rPr>
              <a:t>Effect of sentence length and position on the occurrence of </a:t>
            </a:r>
            <a:r>
              <a:rPr lang="en-US" i="1" dirty="0" err="1">
                <a:latin typeface="Aptos" panose="020B0004020202020204" pitchFamily="34" charset="0"/>
              </a:rPr>
              <a:t>na</a:t>
            </a:r>
            <a:r>
              <a:rPr lang="en-US" dirty="0">
                <a:latin typeface="Aptos" panose="020B0004020202020204" pitchFamily="34" charset="0"/>
              </a:rPr>
              <a:t> </a:t>
            </a:r>
          </a:p>
          <a:p>
            <a:r>
              <a:rPr lang="en-US" dirty="0">
                <a:latin typeface="Aptos" panose="020B0004020202020204" pitchFamily="34" charset="0"/>
              </a:rPr>
              <a:t>Data: Total number of occurrence with </a:t>
            </a:r>
            <a:r>
              <a:rPr lang="en-US" i="1" dirty="0" err="1">
                <a:latin typeface="Aptos" panose="020B0004020202020204" pitchFamily="34" charset="0"/>
              </a:rPr>
              <a:t>na</a:t>
            </a:r>
            <a:r>
              <a:rPr lang="en-US" dirty="0">
                <a:latin typeface="Aptos" panose="020B0004020202020204" pitchFamily="34" charset="0"/>
              </a:rPr>
              <a:t> and without </a:t>
            </a:r>
            <a:r>
              <a:rPr lang="en-US" i="1" dirty="0" err="1">
                <a:latin typeface="Aptos" panose="020B0004020202020204" pitchFamily="34" charset="0"/>
              </a:rPr>
              <a:t>na</a:t>
            </a:r>
            <a:r>
              <a:rPr lang="en-US" dirty="0" err="1">
                <a:latin typeface="Aptos" panose="020B0004020202020204" pitchFamily="34" charset="0"/>
              </a:rPr>
              <a:t>.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Note that if a sentence contains 2 instances of </a:t>
            </a:r>
            <a:r>
              <a:rPr lang="en-US" sz="1600" i="1" dirty="0" err="1">
                <a:latin typeface="Aptos" panose="020B0004020202020204" pitchFamily="34" charset="0"/>
              </a:rPr>
              <a:t>na</a:t>
            </a:r>
            <a:r>
              <a:rPr lang="en-US" sz="1600" i="1" dirty="0">
                <a:latin typeface="Aptos" panose="020B0004020202020204" pitchFamily="34" charset="0"/>
              </a:rPr>
              <a:t>,</a:t>
            </a:r>
            <a:r>
              <a:rPr lang="en-US" sz="1600" dirty="0">
                <a:latin typeface="Aptos" panose="020B0004020202020204" pitchFamily="34" charset="0"/>
              </a:rPr>
              <a:t> it will be recorded twice.</a:t>
            </a: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As part of the pre-processing the data do not contain the sentence which have negation </a:t>
            </a:r>
            <a:r>
              <a:rPr lang="en-IN" i="1" dirty="0" err="1">
                <a:latin typeface="Aptos" panose="020B0004020202020204" pitchFamily="34" charset="0"/>
              </a:rPr>
              <a:t>na.</a:t>
            </a:r>
            <a:endParaRPr lang="en-IN" i="1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Generalised linear model for this data on r since outcome variable is binary.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DCB917-7CCC-D597-E67C-1154E87C4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419520"/>
              </p:ext>
            </p:extLst>
          </p:nvPr>
        </p:nvGraphicFramePr>
        <p:xfrm>
          <a:off x="840721" y="3198177"/>
          <a:ext cx="368662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729">
                  <a:extLst>
                    <a:ext uri="{9D8B030D-6E8A-4147-A177-3AD203B41FA5}">
                      <a16:colId xmlns:a16="http://schemas.microsoft.com/office/drawing/2014/main" val="2276776168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2715797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0" dirty="0"/>
                        <a:t>With </a:t>
                      </a:r>
                      <a:r>
                        <a:rPr lang="en-IN" b="0" i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1457 sentences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984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Without </a:t>
                      </a:r>
                      <a:r>
                        <a:rPr lang="en-IN" i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40415 sentences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311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41,912 sentences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342833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485BB981-1ABA-446E-CC20-F9B77D113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51"/>
          <a:stretch>
            <a:fillRect/>
          </a:stretch>
        </p:blipFill>
        <p:spPr>
          <a:xfrm>
            <a:off x="7012838" y="1955738"/>
            <a:ext cx="4075466" cy="44254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EC8BCA-183D-9479-F33F-74073E18E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41" t="39164" b="54484"/>
          <a:stretch>
            <a:fillRect/>
          </a:stretch>
        </p:blipFill>
        <p:spPr>
          <a:xfrm>
            <a:off x="11153221" y="3619500"/>
            <a:ext cx="915171" cy="2698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0DC524-EE8E-2083-32EA-8ED67FDF9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99" t="50810"/>
          <a:stretch>
            <a:fillRect/>
          </a:stretch>
        </p:blipFill>
        <p:spPr>
          <a:xfrm>
            <a:off x="11204288" y="3971387"/>
            <a:ext cx="864104" cy="20897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D856ED6-CBB3-4A9E-DF97-E4F17787893A}"/>
              </a:ext>
            </a:extLst>
          </p:cNvPr>
          <p:cNvSpPr txBox="1"/>
          <p:nvPr/>
        </p:nvSpPr>
        <p:spPr>
          <a:xfrm>
            <a:off x="988193" y="5535633"/>
            <a:ext cx="3939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DV:	Presence of na</a:t>
            </a:r>
          </a:p>
          <a:p>
            <a:r>
              <a:rPr lang="en-IN" sz="1600" dirty="0">
                <a:latin typeface="Aptos" panose="020B0004020202020204" pitchFamily="34" charset="0"/>
              </a:rPr>
              <a:t>IV: 	Sentence length, Clause final </a:t>
            </a:r>
            <a:r>
              <a:rPr lang="en-IN" sz="1600" i="1" dirty="0">
                <a:latin typeface="Aptos" panose="020B0004020202020204" pitchFamily="34" charset="0"/>
              </a:rPr>
              <a:t>na</a:t>
            </a:r>
          </a:p>
        </p:txBody>
      </p:sp>
    </p:spTree>
    <p:extLst>
      <p:ext uri="{BB962C8B-B14F-4D97-AF65-F5344CB8AC3E}">
        <p14:creationId xmlns:p14="http://schemas.microsoft.com/office/powerpoint/2010/main" val="281020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C7BC2-47D3-1D19-8A60-251F1ABD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0D5075-9E77-56AE-3561-23840AE9F866}"/>
              </a:ext>
            </a:extLst>
          </p:cNvPr>
          <p:cNvSpPr txBox="1"/>
          <p:nvPr/>
        </p:nvSpPr>
        <p:spPr>
          <a:xfrm>
            <a:off x="1322614" y="6354621"/>
            <a:ext cx="7075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Sentences containing </a:t>
            </a:r>
            <a:r>
              <a:rPr lang="en-US" dirty="0" err="1">
                <a:latin typeface="Aptos" panose="020B0004020202020204" pitchFamily="34" charset="0"/>
              </a:rPr>
              <a:t>na</a:t>
            </a:r>
            <a:r>
              <a:rPr lang="en-US" dirty="0">
                <a:latin typeface="Aptos" panose="020B0004020202020204" pitchFamily="34" charset="0"/>
              </a:rPr>
              <a:t> are generally longer than average sentences.</a:t>
            </a: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72585764-9674-8ED2-DD61-6DE7F005A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256" y="2196169"/>
            <a:ext cx="4179360" cy="367823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698BC9-B79E-386E-AE81-50C3EFC96646}"/>
              </a:ext>
            </a:extLst>
          </p:cNvPr>
          <p:cNvSpPr txBox="1"/>
          <p:nvPr/>
        </p:nvSpPr>
        <p:spPr>
          <a:xfrm>
            <a:off x="3785616" y="3429000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na</a:t>
            </a:r>
            <a:r>
              <a:rPr lang="en-IN" dirty="0"/>
              <a:t> Data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18F17F5-8CD3-AA2E-AF27-3D2181819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757" y="1866283"/>
            <a:ext cx="5099828" cy="4488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DC1673-4963-0E36-D83B-8D6377D0E26B}"/>
              </a:ext>
            </a:extLst>
          </p:cNvPr>
          <p:cNvSpPr txBox="1"/>
          <p:nvPr/>
        </p:nvSpPr>
        <p:spPr>
          <a:xfrm>
            <a:off x="9820656" y="3429000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All Data</a:t>
            </a:r>
          </a:p>
        </p:txBody>
      </p:sp>
    </p:spTree>
    <p:extLst>
      <p:ext uri="{BB962C8B-B14F-4D97-AF65-F5344CB8AC3E}">
        <p14:creationId xmlns:p14="http://schemas.microsoft.com/office/powerpoint/2010/main" val="359038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9CD0-923D-8EAC-FF66-533B8B26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86EC9-A314-DCEE-D268-21E7C62AB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Convert </a:t>
            </a:r>
            <a:r>
              <a:rPr lang="en-US" i="1" dirty="0" err="1">
                <a:latin typeface="Aptos" panose="020B0004020202020204" pitchFamily="34" charset="0"/>
              </a:rPr>
              <a:t>na</a:t>
            </a:r>
            <a:r>
              <a:rPr lang="en-US" dirty="0">
                <a:latin typeface="Aptos" panose="020B0004020202020204" pitchFamily="34" charset="0"/>
              </a:rPr>
              <a:t> into binary target variable for logistic regression </a:t>
            </a:r>
            <a:r>
              <a:rPr lang="en-IN" dirty="0">
                <a:latin typeface="Aptos" panose="020B0004020202020204" pitchFamily="34" charset="0"/>
              </a:rPr>
              <a:t>(0 = absent, 1 = present) </a:t>
            </a:r>
            <a:r>
              <a:rPr lang="en-US" dirty="0">
                <a:latin typeface="Aptos" panose="020B0004020202020204" pitchFamily="34" charset="0"/>
              </a:rPr>
              <a:t>: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Outcome variable : Presence of </a:t>
            </a:r>
            <a:r>
              <a:rPr lang="en-US" dirty="0" err="1">
                <a:latin typeface="Aptos" panose="020B0004020202020204" pitchFamily="34" charset="0"/>
              </a:rPr>
              <a:t>na</a:t>
            </a:r>
            <a:r>
              <a:rPr lang="en-US" dirty="0">
                <a:latin typeface="Aptos" panose="020B0004020202020204" pitchFamily="34" charset="0"/>
              </a:rPr>
              <a:t> (Type.of.na)</a:t>
            </a:r>
          </a:p>
          <a:p>
            <a:r>
              <a:rPr lang="en-US" dirty="0">
                <a:latin typeface="Aptos" panose="020B0004020202020204" pitchFamily="34" charset="0"/>
              </a:rPr>
              <a:t>Predictors:</a:t>
            </a:r>
          </a:p>
          <a:p>
            <a:r>
              <a:rPr lang="en-US" dirty="0">
                <a:latin typeface="Aptos" panose="020B0004020202020204" pitchFamily="34" charset="0"/>
              </a:rPr>
              <a:t>Sentence Length: continuous</a:t>
            </a:r>
          </a:p>
          <a:p>
            <a:r>
              <a:rPr lang="en-US" dirty="0">
                <a:latin typeface="Aptos" panose="020B0004020202020204" pitchFamily="34" charset="0"/>
              </a:rPr>
              <a:t>Clause final(</a:t>
            </a:r>
            <a:r>
              <a:rPr lang="en-US" dirty="0" err="1">
                <a:latin typeface="Aptos" panose="020B0004020202020204" pitchFamily="34" charset="0"/>
              </a:rPr>
              <a:t>na.position</a:t>
            </a:r>
            <a:r>
              <a:rPr lang="en-US" dirty="0">
                <a:latin typeface="Aptos" panose="020B0004020202020204" pitchFamily="34" charset="0"/>
              </a:rPr>
              <a:t>): </a:t>
            </a:r>
            <a:r>
              <a:rPr lang="en-IN" dirty="0">
                <a:latin typeface="Aptos" panose="020B0004020202020204" pitchFamily="34" charset="0"/>
              </a:rPr>
              <a:t>categorical</a:t>
            </a:r>
            <a:endParaRPr lang="en-US" dirty="0">
              <a:latin typeface="Aptos" panose="020B0004020202020204" pitchFamily="34" charset="0"/>
            </a:endParaRPr>
          </a:p>
          <a:p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667C12-F877-0BD0-E321-527666BC0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20" y="3009842"/>
            <a:ext cx="5839640" cy="419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555B68-48A6-D8F0-307A-525529B63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16" y="5024108"/>
            <a:ext cx="7325747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35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7D4A-81E3-C296-CE5C-163BD07D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Model 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FE7A56-7AD7-77D8-6B80-9849E02F53D9}"/>
              </a:ext>
            </a:extLst>
          </p:cNvPr>
          <p:cNvSpPr txBox="1">
            <a:spLocks/>
          </p:cNvSpPr>
          <p:nvPr/>
        </p:nvSpPr>
        <p:spPr>
          <a:xfrm>
            <a:off x="733593" y="2332896"/>
            <a:ext cx="5514808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>
              <a:latin typeface="Aptos" panose="020B0004020202020204" pitchFamily="34" charset="0"/>
            </a:endParaRPr>
          </a:p>
          <a:p>
            <a:r>
              <a:rPr lang="el-GR" dirty="0">
                <a:latin typeface="Aptos" panose="020B0004020202020204" pitchFamily="34" charset="0"/>
              </a:rPr>
              <a:t>β0​+β1​⋅</a:t>
            </a:r>
            <a:r>
              <a:rPr lang="en-IN" dirty="0">
                <a:latin typeface="Aptos" panose="020B0004020202020204" pitchFamily="34" charset="0"/>
              </a:rPr>
              <a:t>Sentence.Length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IN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IN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IN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IN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Longer sentences slightly increase odds of </a:t>
            </a:r>
            <a:r>
              <a:rPr lang="en-US" b="1" dirty="0" err="1">
                <a:latin typeface="Aptos" panose="020B0004020202020204" pitchFamily="34" charset="0"/>
              </a:rPr>
              <a:t>na</a:t>
            </a:r>
            <a:endParaRPr lang="en-IN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Residual deviance: 11872 → good model fit for binary outcome</a:t>
            </a:r>
            <a:endParaRPr lang="en-IN" dirty="0">
              <a:latin typeface="Aptos" panose="020B0004020202020204" pitchFamily="34" charset="0"/>
            </a:endParaRPr>
          </a:p>
          <a:p>
            <a:endParaRPr lang="en-IN" dirty="0">
              <a:latin typeface="Aptos" panose="020B00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29D787-45B7-5EC8-C0FF-B1C3EA749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212187"/>
              </p:ext>
            </p:extLst>
          </p:nvPr>
        </p:nvGraphicFramePr>
        <p:xfrm>
          <a:off x="733591" y="2996888"/>
          <a:ext cx="5514810" cy="1729523"/>
        </p:xfrm>
        <a:graphic>
          <a:graphicData uri="http://schemas.openxmlformats.org/drawingml/2006/table">
            <a:tbl>
              <a:tblPr/>
              <a:tblGrid>
                <a:gridCol w="1201088">
                  <a:extLst>
                    <a:ext uri="{9D8B030D-6E8A-4147-A177-3AD203B41FA5}">
                      <a16:colId xmlns:a16="http://schemas.microsoft.com/office/drawing/2014/main" val="2955484525"/>
                    </a:ext>
                  </a:extLst>
                </a:gridCol>
                <a:gridCol w="1004836">
                  <a:extLst>
                    <a:ext uri="{9D8B030D-6E8A-4147-A177-3AD203B41FA5}">
                      <a16:colId xmlns:a16="http://schemas.microsoft.com/office/drawing/2014/main" val="4044333019"/>
                    </a:ext>
                  </a:extLst>
                </a:gridCol>
                <a:gridCol w="1266726">
                  <a:extLst>
                    <a:ext uri="{9D8B030D-6E8A-4147-A177-3AD203B41FA5}">
                      <a16:colId xmlns:a16="http://schemas.microsoft.com/office/drawing/2014/main" val="1803140604"/>
                    </a:ext>
                  </a:extLst>
                </a:gridCol>
                <a:gridCol w="924025">
                  <a:extLst>
                    <a:ext uri="{9D8B030D-6E8A-4147-A177-3AD203B41FA5}">
                      <a16:colId xmlns:a16="http://schemas.microsoft.com/office/drawing/2014/main" val="1051982353"/>
                    </a:ext>
                  </a:extLst>
                </a:gridCol>
                <a:gridCol w="1118135">
                  <a:extLst>
                    <a:ext uri="{9D8B030D-6E8A-4147-A177-3AD203B41FA5}">
                      <a16:colId xmlns:a16="http://schemas.microsoft.com/office/drawing/2014/main" val="1010347015"/>
                    </a:ext>
                  </a:extLst>
                </a:gridCol>
              </a:tblGrid>
              <a:tr h="504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Coefficient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Estimate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Std.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z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p-value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056114"/>
                  </a:ext>
                </a:extLst>
              </a:tr>
              <a:tr h="504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Intercept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-4.234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0.0443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-95.58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&lt;2e-16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183685"/>
                  </a:ext>
                </a:extLst>
              </a:tr>
              <a:tr h="720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Sentence</a:t>
                      </a:r>
                    </a:p>
                    <a:p>
                      <a:pPr>
                        <a:buNone/>
                      </a:pPr>
                      <a:r>
                        <a:rPr lang="en-IN" sz="1700" dirty="0"/>
                        <a:t>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0.139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0.0040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34.34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&lt;2e-16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377695"/>
                  </a:ext>
                </a:extLst>
              </a:tr>
            </a:tbl>
          </a:graphicData>
        </a:graphic>
      </p:graphicFrame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88B57AE-3DED-6120-481D-AE722A6A7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590" y="2005701"/>
            <a:ext cx="5157934" cy="4539477"/>
          </a:xfrm>
        </p:spPr>
      </p:pic>
    </p:spTree>
    <p:extLst>
      <p:ext uri="{BB962C8B-B14F-4D97-AF65-F5344CB8AC3E}">
        <p14:creationId xmlns:p14="http://schemas.microsoft.com/office/powerpoint/2010/main" val="2345497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19E0-1934-53CA-2594-E17E5F1E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Model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E1470-9D16-DEE6-ADB1-A4E963C5A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09550"/>
            <a:ext cx="7908290" cy="3789368"/>
          </a:xfrm>
        </p:spPr>
        <p:txBody>
          <a:bodyPr>
            <a:normAutofit/>
          </a:bodyPr>
          <a:lstStyle/>
          <a:p>
            <a:r>
              <a:rPr lang="el-GR" sz="1700" dirty="0">
                <a:latin typeface="Aptos" panose="020B0004020202020204" pitchFamily="34" charset="0"/>
              </a:rPr>
              <a:t>β0​+β1​⋅</a:t>
            </a:r>
            <a:r>
              <a:rPr lang="en-IN" sz="1700" dirty="0">
                <a:latin typeface="Aptos" panose="020B0004020202020204" pitchFamily="34" charset="0"/>
              </a:rPr>
              <a:t>Sentence.Length+</a:t>
            </a:r>
            <a:r>
              <a:rPr lang="el-GR" sz="1700" dirty="0">
                <a:latin typeface="Aptos" panose="020B0004020202020204" pitchFamily="34" charset="0"/>
              </a:rPr>
              <a:t>β2​⋅</a:t>
            </a:r>
            <a:r>
              <a:rPr lang="en-IN" sz="1700" dirty="0">
                <a:latin typeface="Aptos" panose="020B0004020202020204" pitchFamily="34" charset="0"/>
              </a:rPr>
              <a:t>na.position+</a:t>
            </a:r>
            <a:r>
              <a:rPr lang="el-GR" sz="1700" dirty="0">
                <a:latin typeface="Aptos" panose="020B0004020202020204" pitchFamily="34" charset="0"/>
              </a:rPr>
              <a:t>β3​⋅(</a:t>
            </a:r>
            <a:r>
              <a:rPr lang="en-IN" sz="1700" dirty="0">
                <a:latin typeface="Aptos" panose="020B0004020202020204" pitchFamily="34" charset="0"/>
              </a:rPr>
              <a:t>Sentence.Length×na.position)</a:t>
            </a:r>
          </a:p>
          <a:p>
            <a:r>
              <a:rPr lang="en-IN" sz="1700" dirty="0">
                <a:latin typeface="Aptos" panose="020B0004020202020204" pitchFamily="34" charset="0"/>
              </a:rPr>
              <a:t>Clause final </a:t>
            </a:r>
            <a:r>
              <a:rPr lang="en-IN" sz="1700" i="1" dirty="0">
                <a:latin typeface="Aptos" panose="020B0004020202020204" pitchFamily="34" charset="0"/>
              </a:rPr>
              <a:t>na</a:t>
            </a:r>
            <a:r>
              <a:rPr lang="en-IN" sz="1700" dirty="0">
                <a:latin typeface="Aptos" panose="020B0004020202020204" pitchFamily="34" charset="0"/>
              </a:rPr>
              <a:t> =</a:t>
            </a:r>
            <a:r>
              <a:rPr lang="en-IN" sz="1700" dirty="0">
                <a:latin typeface="Aptos" panose="020B0004020202020204" pitchFamily="34" charset="0"/>
                <a:cs typeface="Aparajita" panose="02020603050405020304" pitchFamily="18" charset="0"/>
              </a:rPr>
              <a:t>1</a:t>
            </a:r>
          </a:p>
          <a:p>
            <a:endParaRPr lang="en-IN" sz="1700" dirty="0">
              <a:latin typeface="Aptos" panose="020B0004020202020204" pitchFamily="34" charset="0"/>
            </a:endParaRPr>
          </a:p>
          <a:p>
            <a:endParaRPr lang="en-IN" sz="1700" dirty="0">
              <a:latin typeface="Aptos" panose="020B0004020202020204" pitchFamily="34" charset="0"/>
            </a:endParaRPr>
          </a:p>
          <a:p>
            <a:endParaRPr lang="en-IN" sz="1700" dirty="0">
              <a:latin typeface="Aptos" panose="020B0004020202020204" pitchFamily="34" charset="0"/>
            </a:endParaRPr>
          </a:p>
          <a:p>
            <a:endParaRPr lang="en-IN" sz="1700" dirty="0">
              <a:latin typeface="Aptos" panose="020B0004020202020204" pitchFamily="34" charset="0"/>
            </a:endParaRPr>
          </a:p>
          <a:p>
            <a:endParaRPr lang="en-IN" sz="1700" dirty="0">
              <a:latin typeface="Aptos" panose="020B0004020202020204" pitchFamily="34" charset="0"/>
            </a:endParaRPr>
          </a:p>
          <a:p>
            <a:endParaRPr lang="en-IN" sz="1700" dirty="0">
              <a:latin typeface="Aptos" panose="020B0004020202020204" pitchFamily="34" charset="0"/>
            </a:endParaRPr>
          </a:p>
          <a:p>
            <a:endParaRPr lang="en-IN" sz="1700" dirty="0">
              <a:latin typeface="Aptos" panose="020B0004020202020204" pitchFamily="34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3962C87-B0E0-447D-DBBF-0B1495F1A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042127"/>
              </p:ext>
            </p:extLst>
          </p:nvPr>
        </p:nvGraphicFramePr>
        <p:xfrm>
          <a:off x="581192" y="2710611"/>
          <a:ext cx="6435958" cy="1828800"/>
        </p:xfrm>
        <a:graphic>
          <a:graphicData uri="http://schemas.openxmlformats.org/drawingml/2006/table">
            <a:tbl>
              <a:tblPr/>
              <a:tblGrid>
                <a:gridCol w="2845735">
                  <a:extLst>
                    <a:ext uri="{9D8B030D-6E8A-4147-A177-3AD203B41FA5}">
                      <a16:colId xmlns:a16="http://schemas.microsoft.com/office/drawing/2014/main" val="4121025108"/>
                    </a:ext>
                  </a:extLst>
                </a:gridCol>
                <a:gridCol w="1232033">
                  <a:extLst>
                    <a:ext uri="{9D8B030D-6E8A-4147-A177-3AD203B41FA5}">
                      <a16:colId xmlns:a16="http://schemas.microsoft.com/office/drawing/2014/main" val="1370989254"/>
                    </a:ext>
                  </a:extLst>
                </a:gridCol>
                <a:gridCol w="1183908">
                  <a:extLst>
                    <a:ext uri="{9D8B030D-6E8A-4147-A177-3AD203B41FA5}">
                      <a16:colId xmlns:a16="http://schemas.microsoft.com/office/drawing/2014/main" val="3291341866"/>
                    </a:ext>
                  </a:extLst>
                </a:gridCol>
                <a:gridCol w="1174282">
                  <a:extLst>
                    <a:ext uri="{9D8B030D-6E8A-4147-A177-3AD203B41FA5}">
                      <a16:colId xmlns:a16="http://schemas.microsoft.com/office/drawing/2014/main" val="27596431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Coefficient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Estimate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z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p-value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7341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Intercept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-4.928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-65.33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&lt;2e-16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6184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Sentence.Length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0.186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31.36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&lt;2e-16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0378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Clause.Final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1.242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13.28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&lt;2e-16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4502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Sentence.Length:position1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-0.091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-10.83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&lt;2e-16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652250"/>
                  </a:ext>
                </a:extLst>
              </a:tr>
            </a:tbl>
          </a:graphicData>
        </a:graphic>
      </p:graphicFrame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DD3B8947-B5E8-6DD4-9909-32E145A57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9" r="2319"/>
          <a:stretch>
            <a:fillRect/>
          </a:stretch>
        </p:blipFill>
        <p:spPr>
          <a:xfrm>
            <a:off x="7123630" y="2446221"/>
            <a:ext cx="5068370" cy="4009922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BAD2DE-69BA-BFCB-A06A-FBAC5C550BEC}"/>
              </a:ext>
            </a:extLst>
          </p:cNvPr>
          <p:cNvSpPr txBox="1">
            <a:spLocks/>
          </p:cNvSpPr>
          <p:nvPr/>
        </p:nvSpPr>
        <p:spPr>
          <a:xfrm>
            <a:off x="555391" y="5055417"/>
            <a:ext cx="6487560" cy="1593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dirty="0">
                <a:latin typeface="Aptos" panose="020B0004020202020204" pitchFamily="34" charset="0"/>
              </a:rPr>
              <a:t>Intercept: baseline for presence of na =1 at sentence length =0</a:t>
            </a:r>
          </a:p>
          <a:p>
            <a:r>
              <a:rPr lang="en-IN" sz="1700" dirty="0" err="1">
                <a:latin typeface="Aptos" panose="020B0004020202020204" pitchFamily="34" charset="0"/>
              </a:rPr>
              <a:t>Sentence.length</a:t>
            </a:r>
            <a:r>
              <a:rPr lang="en-IN" sz="1700" dirty="0">
                <a:latin typeface="Aptos" panose="020B0004020202020204" pitchFamily="34" charset="0"/>
              </a:rPr>
              <a:t>: longer sentences increase probability of </a:t>
            </a:r>
            <a:r>
              <a:rPr lang="en-IN" sz="1700" i="1" dirty="0">
                <a:latin typeface="Aptos" panose="020B0004020202020204" pitchFamily="34" charset="0"/>
              </a:rPr>
              <a:t>na</a:t>
            </a:r>
          </a:p>
          <a:p>
            <a:r>
              <a:rPr lang="en-IN" sz="1700" dirty="0">
                <a:latin typeface="Aptos" panose="020B0004020202020204" pitchFamily="34" charset="0"/>
              </a:rPr>
              <a:t>Clause Final na is more likely.</a:t>
            </a:r>
          </a:p>
          <a:p>
            <a:r>
              <a:rPr lang="en-IN" sz="1700" dirty="0">
                <a:latin typeface="Aptos" panose="020B0004020202020204" pitchFamily="34" charset="0"/>
              </a:rPr>
              <a:t>Interaction: </a:t>
            </a:r>
            <a:r>
              <a:rPr lang="en-US" sz="1700" dirty="0">
                <a:latin typeface="Aptos" panose="020B0004020202020204" pitchFamily="34" charset="0"/>
              </a:rPr>
              <a:t>the increase in probability with length is smaller with clause final </a:t>
            </a:r>
            <a:r>
              <a:rPr lang="en-US" sz="1700" dirty="0" err="1">
                <a:latin typeface="Aptos" panose="020B0004020202020204" pitchFamily="34" charset="0"/>
              </a:rPr>
              <a:t>na</a:t>
            </a:r>
            <a:endParaRPr lang="en-US" sz="17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700" dirty="0">
                <a:latin typeface="Aptos" panose="020B0004020202020204" pitchFamily="34" charset="0"/>
              </a:rPr>
              <a:t>Effect of sentence length gets </a:t>
            </a:r>
            <a:r>
              <a:rPr lang="en-US" sz="1700" dirty="0" err="1">
                <a:latin typeface="Aptos" panose="020B0004020202020204" pitchFamily="34" charset="0"/>
              </a:rPr>
              <a:t>weeker</a:t>
            </a:r>
            <a:r>
              <a:rPr lang="en-US" sz="1700" dirty="0">
                <a:latin typeface="Aptos" panose="020B0004020202020204" pitchFamily="34" charset="0"/>
              </a:rPr>
              <a:t> by clause final </a:t>
            </a:r>
            <a:r>
              <a:rPr lang="en-US" sz="1700" i="1" dirty="0" err="1">
                <a:latin typeface="Aptos" panose="020B0004020202020204" pitchFamily="34" charset="0"/>
              </a:rPr>
              <a:t>na</a:t>
            </a:r>
            <a:r>
              <a:rPr lang="en-US" sz="1700" dirty="0" err="1">
                <a:latin typeface="Aptos" panose="020B0004020202020204" pitchFamily="34" charset="0"/>
              </a:rPr>
              <a:t>.</a:t>
            </a:r>
            <a:endParaRPr lang="en-IN" sz="17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IN" sz="17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114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38428-469E-81A3-F775-2FB56562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BFA8B6-5F57-1C24-F039-14FEDD665519}"/>
              </a:ext>
            </a:extLst>
          </p:cNvPr>
          <p:cNvSpPr txBox="1">
            <a:spLocks/>
          </p:cNvSpPr>
          <p:nvPr/>
        </p:nvSpPr>
        <p:spPr>
          <a:xfrm>
            <a:off x="733593" y="2332896"/>
            <a:ext cx="11029616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>
              <a:latin typeface="Aptos" panose="020B0004020202020204" pitchFamily="34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Logistic regression successfully models probability of </a:t>
            </a:r>
            <a:r>
              <a:rPr lang="en-US" altLang="en-US" i="1" dirty="0" err="1">
                <a:solidFill>
                  <a:schemeClr val="tx1"/>
                </a:solidFill>
                <a:latin typeface="Aptos" panose="020B0004020202020204" pitchFamily="34" charset="0"/>
              </a:rPr>
              <a:t>na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 occurrence</a:t>
            </a:r>
          </a:p>
          <a:p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Sentence length and clause position both significantly influence </a:t>
            </a:r>
            <a:r>
              <a:rPr lang="en-US" altLang="en-US" i="1" dirty="0" err="1">
                <a:solidFill>
                  <a:schemeClr val="tx1"/>
                </a:solidFill>
                <a:latin typeface="Aptos" panose="020B0004020202020204" pitchFamily="34" charset="0"/>
              </a:rPr>
              <a:t>na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 presence</a:t>
            </a:r>
          </a:p>
          <a:p>
            <a:r>
              <a:rPr lang="en-US" dirty="0"/>
              <a:t>Interaction shows position moderates the effect of sentence length</a:t>
            </a:r>
            <a:endParaRPr lang="en-US" alt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endParaRPr lang="en-US" alt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27713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1288</TotalTime>
  <Words>878</Words>
  <Application>Microsoft Office PowerPoint</Application>
  <PresentationFormat>Widescreen</PresentationFormat>
  <Paragraphs>122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Gill Sans MT</vt:lpstr>
      <vt:lpstr>Wingdings 2</vt:lpstr>
      <vt:lpstr>Dividend</vt:lpstr>
      <vt:lpstr>Discourse particle in Hindi</vt:lpstr>
      <vt:lpstr>background</vt:lpstr>
      <vt:lpstr>hypothesis</vt:lpstr>
      <vt:lpstr>Data</vt:lpstr>
      <vt:lpstr>Data </vt:lpstr>
      <vt:lpstr>Analysis</vt:lpstr>
      <vt:lpstr>Analysis</vt:lpstr>
      <vt:lpstr>analysis</vt:lpstr>
      <vt:lpstr>Model 1</vt:lpstr>
      <vt:lpstr>Model 2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Hooda, Meghna</dc:creator>
  <cp:lastModifiedBy>Hooda, Meghna</cp:lastModifiedBy>
  <cp:revision>5</cp:revision>
  <dcterms:created xsi:type="dcterms:W3CDTF">2025-12-08T01:29:27Z</dcterms:created>
  <dcterms:modified xsi:type="dcterms:W3CDTF">2025-12-12T20:59:19Z</dcterms:modified>
</cp:coreProperties>
</file>